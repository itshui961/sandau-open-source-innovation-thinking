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同学们好，今天我们进入第2章——开源许可证。这一章是整个开源创新思维课程里最"接地气"也最容易踩坑的部分。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很多同学以为开源就是"免费随便用"，但实际开发中，一段代码用错了许可证，轻则产品下架，重则被起诉赔偿。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这节课我们围绕一个核心问题展开：开源软件真的可以自由使用吗？学完之后，希望大家能独立判断一段开源代码能不能用、怎么用、改完之后要不要公开。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上课一开始，我先抛四个问题给大家，这四个问题都来自教材第33页，也是真实开发中最常踩的坑。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前三个问题看起来是"能不能用"，第四个问题最关键——它问的是开源许可证的"传染性"。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大家可以先在心里给自己一个答案，这节课结束后我们再回头看，你的判断对不对。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这节课我们走四站。第一站先搞清楚开源许可证到底是什么、有哪几大类；第二站讲兼容性和法律风险，这是最容易出事故的地方；第三站介绍企业里实际用的SCA工具；最后一站是实践作业。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其中2.1和2.2是重点，占整节课大约三分之二的时间。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大家可以把这一页拍下来，作为整章的导航地图。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我们进入2.1节。先想一个问题：既然开源软件把源代码都公开了，为什么还要一份法律合同来管它？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这里有一个非常反直觉的事实：版权法默认是"保留所有权利"的。也就是说，作者把代码挂在网上，如果你不明确给他一个许可证，法律上你连使用都是侵权的。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所以开源许可证不是限制你，而是作者主动给你的一份"使用授权书"。这一节我们就来把这份授权书看明白。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这一页给开源许可证下一个正式定义。请大家记住三句话：它是合同、它授权权利、它也设定义务。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特别强调第三点：很多同学只看到"授权"，没看到"义务"。开源许可证是双向的——作者给你权利，你也要遵守规则。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后面我们会看到，GPL这种许可证的"义务"就是：你改了代码再分发，就必须公开你改的部分。这是后面所有内容的基础。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开源许可证同时做三件事：给你权力、保留作者版权、明确你的义务。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最容易被忽略的是第二点——开源不是放弃版权。这一点非常重要，它是后面Copyleft概念的基础。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第三点"义务"是区分不同许可证的关键：有的宽松，只要你保留版权声明就行；有的严格，要求你改完代码必须公开。这就是我们下一节要讲的分类。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这一页四个术语必须搞清楚，后面反复出现。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最重要的两个：Copyleft和衍生作品。Copyleft是斯托曼的发明，它反过来用版权——用版权来保证软件永远自由，不会被人拿去闭源私有化。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"衍生作品"是判断许可证传染性的关键：你改了别人的代码、或者把别人的代码链接进你的程序，出来的新东西算不算衍生作品？这直接决定你要不要公开自己的代码。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这一页是整章最关键的一张图。OSI认证的开源许可证有126个，但归根结底就两大类。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分类的唯一标准是：你修改了这个代码、再分发出去的时候，要不要把你改的部分也公开？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宽松型说"不用"，你甚至可以拿去闭源做商业产品；著佐权说"必须公开，而且要用同样的许可证"。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后面我们会分别介绍每一类里的代表许可证，大家对照这张图来记。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BSD是历史最悠久的宽松型许可证，来自加州大学伯克利分校。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它的演化很有意思：最早的4-Clause版本要求你在广告里提到原作者，太麻烦，1999年删掉了广告条款变成3-Clause；后来又有人觉得3条还是多，简化成2-Clause。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用BSD代码你要做的事很少——保留版权、保留许可证文本、加免责声明、别拿作者名字吹牛。就这四件事，没有别的了。所以很多公司做商业产品首选BSD。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MIT是最简短、最宽松的许可证，文本本身就几百个字。它的要求只有一条：保留版权声明。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但它也有短板——没有专利授权条款。这就引出React的故事。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2017年Facebook给React加了一个专利条款，意思是你要是告我专利，我就收回你的React使用权。社区炸锅了，大家怕被大厂用专利卡脖子。Facebook最后顶不住压力，2018年改回纯MIT。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这个故事告诉我们：宽松许可证里，专利条款是个大事，下一个Apache就是专门解决这个问题的。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Apache 2.0是企业级开源项目的事实标准。它解决了MIT的两个痛点：专利风险和责任不清。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Apache 2.0最重要的新增是明确的专利授权——你贡献代码，就等于授权所有用户使用你的相关专利。这就避免了React那种"专利突然反水"的问题。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注意一个兼容性细节：Apache 2.0跟GPL v3兼容，但跟GPL v2不兼容，因为GPL v2不允许额外加条款。这个后面讲兼容性矩阵还会遇到。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这一页特别讲一下木兰宽松许可证，因为它是我们中国自己的开源许可证。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以前中国的开源项目要么用MIT、要么用Apache，这些许可证的文本和解释权都在国外。木兰PSL由北大周明辉教授团队牵头，2020年通过了OSI认证，是全球第一个中国主导的中英双语开源许可证。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它的技术特点跟Apache 2.0接近——有专利授权、允许闭源、兼容性好。不同的是它有中文版本，在法律解释上更贴合中国国情。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这张表把四种宽松型许可证放在一起对比，建议大家截个图保存。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最关键看两件事：有没有专利授权，和要求你做什么。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BSD和MIT都没有专利条款，MIT最省事；Apache和木兰PSL都有专利授权，更适合企业级项目。木兰PSL多了一个中文解释权，国内项目选它更顺。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GPL是最强的著佐权许可证，也是最有名的"传染性"许可证。Linux内核就用GPL。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它给你完全的自由——可以用、可以改、可以卖，但有一个代价：你改完之后再分发，整个作品都必须用GPL开源。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打个比方：GPL像一种"自由传染"——你借用了它的自由，就必须把这份自由同样传给你作品的下一个用户，不能把它锁进闭源商业产品里。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这就是为什么很多商业公司对GPL又爱又怕。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GPL有三个主要版本，时间线给大家理一下。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v1是1989年斯托曼亲手写的；v2是1991年，加了著名的"自由或死亡"条款——你不能在分发GPL软件时再加自己的限制。Linux内核从1991年到今天，一直用GPL v2。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v3是2007年，最大变化是反DRM条款和专利反诉条款。但Linus Torvalds拒绝把内核升级到v3，他觉得反DRM管得太宽。这也是为什么我们今天说Linux内核是GPL v2，不是v3。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GPL太严怎么办？社区发展出两个折中方案。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LGPL专门给库用：你动态链接一个LGPL库，自己的应用可以闭源；但如果你改了这个库本身，改的部分要开源。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MPL更精细——它把传染粒度切到"单个文件"：你改了哪个MPL文件，就只公开哪个文件，项目其他文件该闭源闭源。Firefox和Rust都用MPL。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大家记住这个光谱：从GPL的"全部传染"，到MPL的"文件级"，再到Apache/MIT的"不传染"。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这张表把三种Copyleft放在一起对比。重点看前两行：传染性强度和动态链接闭源。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GPL最严，动态链接也传染；LGPL和MPL都允许动态链接闭源应用，但粒度不同——LGPL是库级，MPL是文件级。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选的时候想清楚：你是要做一个完整的开源产品，还是要做一个库给别人用？前者选GPL，后者选LGPL或MPL。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除了前面讲的主流许可证，实际工作中还会遇到这四个。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AGPL是GPL的SaaS版本，Nextcloud就是用它防止大厂白嫖。EPL是Eclipse基金会用的，文件级传染但允许跟闭源模块组合。Unlicense是作者主动放弃所有权利，等于扔进公域。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最值得关注的是BSL——这是2024年以后的新趋势，HashiCorp和Elastic都把核心产品从Apache改成了BSL：源码你能看，但不能直接拿去做云服务卖，等几年后自动转开源。这是云厂商和开源基金会博弈的结果。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我们进入2.2节，这是整章最"实战"的部分。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一个真实项目里，可能同时用了十几个开源库，每个库的许可证还不一样。把它们拼在一起合法吗？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教材数据显示，现代软件60%到80%的代码都是开源组件拼出来的。如果许可证不兼容，后果不是代码不能用那么简单——可能是被起诉、产品下架、巨额赔偿。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这一节我们讲三件事：违规的法律风险、怎么判断兼容性、怎么给自己的项目选许可证。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违反开源协议，法律上会从三个角度被追责。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第一是版权侵权——你用了别人有版权的代码却没遵守授权条件。第二是违约——因为许可证本身就是合同。第三是专利侵权——特别是GPL v3和Apache 2.0里有专利授权条款，违反了一样被告。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除了法律本身，还有三个衍生影响：声誉受损、经济损失、合规成本增加。下一页我们看几个真实案例。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这四个案例都来自教材，我建议大家记住前三个。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思科案是FSF第一次真正在法庭上赢了GPL官司，对象还是财富50强大公司。Artifex案说明AGPL不是纸老虎。Welte案是个人开发者靠自己的组织告赢了网络设备商。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第四个Google诉Oracle虽然核心是API版权，但它告诉我们：开源许可证的传染性问题，在最高法庭上也是认真讨论的。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上一页讲了四个案例，这一页给大家一个量级概念。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现代软件产品60%到80%的代码来自开源，而调研发现70%以上的企业代码库里都有许可证冲突或未声明的组件。这意味着——违规不是小概率事件，是常态。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一次GPL违规的和解金通常在百万美元级别，还不算律师费和紧急替换组件的工程开销。更伤的是声誉——被FSF公开点名后，客户、投资人、开发者都会质疑你的合规能力。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这五步是教材给的标准判定流程，建议大家当成检查清单用。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第3步最容易被忽略——代码怎么结合，直接决定传不传染。静态链接和动态链接在法律上后果完全不同。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第5步不要靠人脑判断，用SPDX和FOSSology这些工具跑一遍，比你自己读许可证文本靠谱得多。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这张兼容性矩阵建议大家保存。不用全背，记住三条规律就行。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第一，所有宽松型许可证之间都互相兼容，可以随便混。第二，GPL像黑洞——只要你的代码跟GPL静态链接，整个作品都变成GPL，闭源产品就不能用。第三，GPL v2和v3互相不兼容，这是最容易踩的坑，因为很多人以为都是GPL就能混。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真到项目里，别凭这张表拍脑袋，用SPDX工具跑一遍。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选许可证就回答三个问题：想被多少人用、在乎别人闭源吗、需要专利保护吗。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教材用SecureDB这个例子特别好——它是个数据库，本来用GPL就行，但GPL有个漏洞：你在网上跑个SaaS，不给用户发二进制，GPL管不到你。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所以这类SaaS项目要选AGPL——A是Affero，专门补GPL在网络服务场景的漏洞。MongoDB、Elasticsearch早期都遇到过这个问题。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2.3这一节讲SCA，软件成分分析。前面我们讲了许可证的规则，但一个真实项目里几十个组件，靠人工根本管不过来。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SCA就是用工具自动扫描你的代码，识别出所有开源组件、对应的许可证、有没有已知漏洞。它的核心是"左移"——把合规检查从上线后提前到写代码时。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Tesla案说明即使是车企，用了GPL代码不公开也会被社区盯。另外要注意，有些开源组件还涉及进出口管制，比如加密算法，这在跨国项目里是个特殊问题。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SCA这一页补充两个实操细节。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左边是主流工具对比：FOSSA开源免费适合中小团队；Snyk主打漏洞修复和DevOps集成；Black Duck是企业级老牌方案；国内政企项目常用白盒子等国产工具。选型主要看团队规模和合规要求。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右边是一个容易被忽略的问题——进出口管制。开源软件里的加密算法、受控技术，跨国分发是受美国EAR管制的。如果你们的产品要出口，SCA扫描里要加一层出口管制标签，否则可能踩红线。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最后一页讲两块。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左边是知识共享CC许可证——它跟软件开源许可证思路一样，但用在文章、图片、课件这些非软件作品上。维基百科用的就是CC BY-SA。我们这门课的课件如果要分享给外校，建议用CC BY-NC-SA，保留署名、禁止商用、相同方式共享。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右边是课后作业，三个任务。重点是第三个——真的用SCA工具扫一遍自己的项目，不要只停留在书本上。下节课我们看大家扫出来的结果。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我们用教材最后那四句小诗收尾。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开源许可证再多，本质就两类：宽松型和著佐权。选哪个不取决于哪个"更好"，而取决于你的产品要干什么。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兼容性是个工程问题，不是背法条——搞清楚代码怎么结合的、分发还是不分发，基本就能判断个八九不离十。最后，到了真实项目规模，一定要上SCA工具，不要靠人。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课后作业是教材56到58页的思考题，下节课我们对答案。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1397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开源创新思维 · 第 2 章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159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556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从「自由使用」到「合规选择」：开发者必须懂的法律框架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8647">
            <a:off x="1016026" y="4565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508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教材：《开源软件构建技术：理论与实践》 · 第 33–58 页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 · 先别急着抄代码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你有没有被这些问题卡住过？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336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651000" y="21844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网络上找到的一段开源代码，我能随意复制到自己项目里吗？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304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651000" y="30988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我给开源项目贡献了几行代码，这个文件的版权能改成我吗？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" y="39624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651000" y="40132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从网盘下载的开源源码包，能直接打包进我的商业产品吗？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48768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651000" y="49276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我用的开源软件，会反过来要求</a:t>
            </a:r>
            <a:r>
              <a:rPr lang="en-US" sz="17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我的代码也必须开源</a:t>
            </a:r>
            <a:r>
              <a:rPr lang="en-US" sz="17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吗？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来源：教材第 33 页 · 开源许可证概述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学习地图 · ROADMAP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这一章我们要走完四站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032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032000" y="2057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开源许可证概述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032000" y="2514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什么是开源许可证？宽松型与著佐权两大阵营里，BSD、MIT、Apache、GPL 各有什么脾气？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032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620000" y="2057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许可证的兼容性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0" y="2514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把不同许可证的代码拼在一起合法吗？违规会付出什么代价？怎么给自己的项目选许可证？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092">
            <a:off x="762004" y="367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762000" y="4064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2032000" y="4089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软件成分分析 SCA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032000" y="4546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现代软件 60%–80% 代码来自开源，企业靠什么工具识别、跟踪和管控这些组件？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4064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2.4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620000" y="4089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实践作业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620000" y="4546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Creative Commons 许可证家族、AGPL 与 AI 模型调用、Project 1 / Project 2 合规分析。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学习目标：学完能独立判断一段开源代码能不能用、怎么用、要不要公开衍生作品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143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SECTION 2.1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77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开源许可证概述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266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3048000"/>
            <a:ext cx="1016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代码都公开了，为什么还需要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一份"法律合同"？</a:t>
            </a:r>
            <a:endParaRPr lang="en-US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困惑锚点：很多人以为"开源 = 放弃版权 = 随便用"。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真相是——没有许可证的开源代码，你只能看，不能用。</a:t>
            </a:r>
            <a:endParaRPr lang="en-US" sz="16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2.1.1 定义 · CONCEPT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 = 一份具有法律效力的使用授权合同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336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开源许可证（Open Source License）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是开源生态的核心法律框架。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它由软件的版权持有人（通常是开发者或组织）出具，授予用户特定的权利；用户在使用软件时，即视为接受其全部条款。</a:t>
            </a:r>
            <a:endParaRPr lang="en-US" sz="15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如果用户违反条款——例如不遵守 GPL 的源代码公开要求——版权持有人可以采取法律行动。</a:t>
            </a:r>
            <a:endParaRPr lang="en-US" sz="15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5386358">
            <a:off x="4495800" y="3727463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6477000" y="21336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048500" y="2159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它是合同：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用了软件，就等于同意了条款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477000" y="31496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048500" y="3175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它授予权利：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使用、修改、复制、分发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477000" y="41656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048500" y="41910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它也设定义务：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违约（如 GPL 不公开源码），会被追责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来源：教材第 33 页 · 2.1.1 开源许可证的定义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2.1.1 · 三大核心作用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一份许可证，同时做三件事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59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授予权力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768600"/>
            <a:ext cx="330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：个人、商业、教育都可免费使用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：允许查看、修改源代码</a:t>
            </a:r>
            <a:endParaRPr lang="en-US" sz="15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：可复制、分发原始版或修改版</a:t>
            </a:r>
            <a:endParaRPr lang="en-US" sz="15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6777">
            <a:off x="2667000" y="3803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4572000" y="2159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保护版权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572000" y="2768600"/>
            <a:ext cx="330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</a:t>
            </a: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并不放弃版权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版权仍然属于原作者，许可证只是明确告诉你：在这些条件下，你可以做哪些事。</a:t>
            </a:r>
            <a:endParaRPr lang="en-US" sz="15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86777">
            <a:off x="6477000" y="3803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8382000" y="2159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明确义务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382000" y="2768600"/>
            <a:ext cx="330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不同许可证要求不同：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有的要求</a:t>
            </a: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公开修改后的源码</a:t>
            </a:r>
            <a:endParaRPr lang="en-US" sz="15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有的只要</a:t>
            </a: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保留版权声明</a:t>
            </a:r>
            <a:endParaRPr lang="en-US" sz="15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一句话：授权是给你的权利，版权是作者保留的底线，义务是你必须守的规矩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2.1.1 · 先记住这四个术语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四个绕不开的关键词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0574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著佐权 Copyleft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540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1985 年斯托曼创立 FSF 时提出。标志是反转的 ©。核心思想：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用版权来保护自由，而不是限制自由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0574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版权 Copyright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540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法律赋予作者的独占权利。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版权默认禁止共享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——没有许可证，即使开源代码你也只能看不能用。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" y="40132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衍生作品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62000" y="44958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对原始开源代码修改、或与其他代码结合后生成的新软件。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如何处理衍生作品，是区分两大许可证阵营的关键标准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350000" y="40132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公域 Public Domain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350000" y="44958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不受版权保护的作品，任何人可自由使用、修改、分发。原因：版权过期、作者放弃、法律规定。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注意：开源软件 ≠ 公域软件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来源：教材第 34 页 · 四个关键概念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2.1.2 分类 · 两大阵营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开源许可证怎么分？就看一件事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16256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OSI 已认证 126 个开源许可证，使用率超 80% · 分类依据：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对"衍生作品"是否要求开源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016000" y="24892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宽松型 Permissive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048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允许用户几乎无限制地使用、修改、分发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衍生作品可以闭源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——你拿去做商业产品、闭源销售都行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通常只要保留版权声明和许可证文本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代表：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BSD · MIT · Apache · 木兰 PSL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2860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604000" y="24892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著佐权 Copyleft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604000" y="3048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赋予用户自由，但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强制衍生作品同样开源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修改后再分发，必须公开修改后的源代码，且用同一许可证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自由必须"传递"给后续用户，不能被私有化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代表：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GPL · LGPL · MPL · AGPL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记忆锚点：宽松型 = 给你自由；著佐权 = 自由必须传递下去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宽松型 · 01 / BSD LICENSE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BSD：从"广告条款"到"几乎什么都不要求"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03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起源：1970 年代加州大学伯克利分校，为 BSD UNIX 操作系统设计 · 无专利授权条款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66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4-Clause（1980s 原始版）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30988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包含"广告条款"：所有广告材料都要提及原作者。因太繁琐被弃用。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445000" y="266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3-Clause（1999 修订版）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445000" y="30988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删掉广告条款，保留"不得用作者名字推广"。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目前最常用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28000" y="266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2-Clause（简化版）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128000" y="30988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进一步简化，只保留版权声明和许可证文本。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443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762000" y="469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用了 BSD 代码，你必须做的四件事：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62000" y="514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保留原始版权声明　② 保留 BSD 许可证文本　③ 保留"按原样提供、无担保"免责声明　④ 不得用原作者名字给衍生产品背书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典型案例：FreeBSD、TCP/IP 协议栈 · 教材第 35–36 页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宽松型 · 02 / MIT LICENSE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MIT：极简到只有几行字，GitHub 上最流行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482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条款极简：只要保留版权声明和许可证文本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无专利授权条款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允许闭源、允许商用、允许修改后不分发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优点</a:t>
            </a:r>
            <a:endParaRPr lang="en-US" sz="1400" b="1" i="0" u="none" strike="noStrike">
              <a:solidFill>
                <a:srgbClr val="0596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个人/小项目快速发布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与 GPL 兼容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缺点</a:t>
            </a:r>
            <a:endParaRPr lang="en-US" sz="1400" b="1" i="0" u="none" strike="noStrike">
              <a:solidFill>
                <a:srgbClr val="D9770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无专利保护，可能被专利诉讼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衍生作品可被私有化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5387453">
            <a:off x="4229100" y="3841762"/>
            <a:ext cx="3479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6350000" y="2108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经典故事：React 的许可证风波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616200"/>
            <a:ext cx="508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2017 年，Facebook 给 React 用的是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BSD + 额外专利条款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——它保留了在某些情况下对 React 用户提起专利诉讼的权利。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社区强烈反对，担心被"专利掐脖子"。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2018 年，Facebook 把 React 改成了</a:t>
            </a: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 MIT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，争议平息，React 反而更流行。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典型：jQuery、Rails、Node.js 生态 · 教材第 37 页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宽松型 · 03 / APACHE LICENSE 2.0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2.0：企业级开源项目的默认选择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5080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 BSD/MIT 多做的三件事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明确专利授权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：贡献者自动授予用户专利使用权，减少专利诉讼风险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更改通知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：改了哪个文件，要在文件里注明"本文件已被修改"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许可证灵活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：衍生作品可以换成别的许可证（包括闭源）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5387453">
            <a:off x="4483100" y="3841762"/>
            <a:ext cx="3479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6604000" y="2108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版本演进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26162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Apache 1.0（1995）：宽松但无专利条款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Apache 1.1（2000）：明确衍生作品定义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2.0（2004）：引入专利授权，最常用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604000" y="4267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为什么大企业爱用？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604000" y="4699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专利保护 + 可闭源商用 + 长期基金会维护。Kubernetes、Hadoop、Kafka、Spring 都选它。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GPL v3 兼容；与 GPL v2 不兼容 · 教材第 38 页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宽松型 · 04 / MULAN PSL · 中国自主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木兰 PSL：中国首个获得 OSI 国际认可的许可证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6350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出身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北京大学周明辉教授团队牵头，联合国内开源社区，2019 年发布 v1，2020 年 v2 通过 OSI 认证。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三个特点</a:t>
            </a:r>
            <a:endParaRPr lang="en-US" sz="1400" b="1" i="0" u="none" strike="noStrike">
              <a:solidFill>
                <a:srgbClr val="0F2A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明确专利授权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，保护用户免受专利诉讼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保留版权声明和许可证文本，允许自由使用、修改、分发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与 GPL v2 / v3、Apache 2.0 兼容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意义</a:t>
            </a:r>
            <a:endParaRPr lang="en-US" sz="1400" b="1" i="0" u="none" strike="noStrike">
              <a:solidFill>
                <a:srgbClr val="0F2A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全球首个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我国主导的中英双语开源许可证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，打破中国在开源许可证方面的空白。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0" y="2286000"/>
            <a:ext cx="3810000" cy="304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7874000" y="2540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为什么需要它？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874000" y="3048000"/>
            <a:ext cx="330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具备开源协议的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中文解释权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符合中国法律环境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配套专利保护条款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适合我国开源项目走向国际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 年已推出 Mulan PSL-2.0 日文版 · 教材第 38–39 页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08000"/>
            <a:ext cx="1066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 2-1 · 常用宽松型许可证一图看清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889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四种宽松许可证，怎么选？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651000"/>
          <a:ext cx="10668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2222500"/>
                <a:gridCol w="2222500"/>
                <a:gridCol w="2286000"/>
                <a:gridCol w="2159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BSD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Apache 2.0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木兰 PSL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传染性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无，可闭源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无，可闭源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弱，改文件需注明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无，可闭源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专利授权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核心要求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保留版权+许可证文本，不得用作者名推广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仅保留版权声明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保留声明+注明修改+专利授权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保留声明+专利授权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典型项目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FreeBSD、TCP/IP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jQuery、Rails、Node 生态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K8s、Hadoop、Kafka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华为、阿里部分开源项目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一句话选它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简单灵活，无专利保护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极简，小项目首选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企业级，要专利保护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国内项目，中文解释权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来源：教材表 2-1 · 第 39 页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著佐权 · 01 / GPL · 最强传染性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GPL：为什么大家说它"有传染性"？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用户获得的权利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540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自由使用任何目的（含商业）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自由阅读、修改源代码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自由复制、分发原版或修改版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用户必须承担的义务（传染性来源）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62000" y="43688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分发二进制时，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必须同时提供源代码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衍生作品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必须用同一个 GPL 许可证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不得再加任何额外限制或闭源条款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8307">
            <a:off x="4356100" y="3968761"/>
            <a:ext cx="373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6604000" y="2108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"传染"是怎么发生的？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604000" y="26162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你修改或扩展了 GPL 软件，再分发出去——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你的整个衍生作品，</a:t>
            </a:r>
            <a:r>
              <a:rPr lang="en-US" sz="14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都必须以 GPL 开源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，包括你自己新写的那部分。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这就是"传染性"：GPL 像病毒一样，把你的代码也"感染"成 GPL。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典型：Linux 内核、GNU 工具链 · 教材第 40–41 页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著佐权 · 02 / GPL 版本演进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GPL 三个版本，为什么 Linux 至今还停在 v2？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85676">
            <a:off x="-254000" y="4057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117600" y="2362200"/>
            <a:ext cx="304800" cy="304800"/>
          </a:xfrm>
          <a:prstGeom prst="roundRect">
            <a:avLst>
              <a:gd name="adj" fmla="val 0"/>
            </a:avLst>
          </a:prstGeom>
          <a:solidFill>
            <a:srgbClr val="D9770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6510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GPL v1 · 1989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651000" y="27178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斯托曼与 FSF 发布，确保软件的自由使用、修改和分发。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7600" y="3378200"/>
            <a:ext cx="304800" cy="304800"/>
          </a:xfrm>
          <a:prstGeom prst="roundRect">
            <a:avLst>
              <a:gd name="adj" fmla="val 0"/>
            </a:avLst>
          </a:prstGeom>
          <a:solidFill>
            <a:srgbClr val="D9770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1651000" y="3327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GPL v2 · 1991（"自由或死亡"）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651000" y="37338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加入"自由或死亡"条款（不能附加限制分发的条款）、专利条款、免责声明。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Linux 内核至今采用 GPL v2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4648200"/>
            <a:ext cx="304800" cy="304800"/>
          </a:xfrm>
          <a:prstGeom prst="roundRect">
            <a:avLst>
              <a:gd name="adj" fmla="val 0"/>
            </a:avLst>
          </a:prstGeom>
          <a:solidFill>
            <a:srgbClr val="D9770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1651000" y="4597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GPL v3 · 2007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651000" y="50038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增加反 DRM（禁止用 GPL 软件做 Tivo 化锁定）、明确专利反诉条款、与 Apache 2.0 兼容、适配多国法律。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 Linus 拒绝 v3？他认为反 DRM 条款侵犯硬件厂商自由 · 教材第 41 页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著佐权 · 03 / 弱传染性中间地带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嫌 GPL 太严？LGPL 和 MPL 给你两条退路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108200"/>
            <a:ext cx="5080000" cy="3556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016000" y="23114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78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LGPL · 库专用弱传染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870200"/>
            <a:ext cx="4572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只有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直接修改 LGPL 库本身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，修改部分才需开源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通过动态链接调用的应用程序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可以保持闭源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静态链接需提供目标文件，方便用户替换库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典型：GTK、Glib、FFmpeg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108200"/>
            <a:ext cx="5080000" cy="3556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604000" y="23114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78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MPL · 文件级传染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604000" y="2870200"/>
            <a:ext cx="4572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传染性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只到文件级别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：改过的 MPL 文件需开源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项目里其他文件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可以保持闭源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含专利反诉条款；MPL 2.0 与 GPL 兼容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典型：Firefox、Rust 编译器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从"全有"到"全无"的光谱：GPL 强传染 → LGPL 库级 → MPL 文件级 → Apache/MIT 不传染 · 教材第 42–44 页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08000"/>
            <a:ext cx="1066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 2-2 · 常用著佐权许可证一图看清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889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 Copyleft，传染性强度一目了然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651000"/>
          <a:ext cx="10668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2959100"/>
                <a:gridCol w="2959100"/>
                <a:gridCol w="29718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LGPL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传染性强度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强：整个衍生作品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B4781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弱：仅修改库本身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B4781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文件级：仅改过的文件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动态链接闭源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不允许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允许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允许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专利条款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v3 有反诉条款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v3 有，同 GPL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有，起诉即失效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完整应用：Linux、GNU 工具链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动态库：GTK、FFmpeg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模块化：Firefox、Rust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一句话选它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要严格保护自由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做库，想被商业软件用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项目里有开源也有闭源模块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来源：教材表 2-2 · 第 44–45 页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著佐权 · 04 / 你还会遇到的其他许可证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除了 GPL 三兄弟，开源世界还有哪些"熟面孔"？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0320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AGPL v3 · 网络服务也传染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4384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GPL v3 基础上增加"网络使用即分发"条款：通过网页/App 提供服务，也要公开修改后的源码。MongoDB、Nextcloud 早期采用。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37592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EPL · Eclipse 公共许可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62000" y="41656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文件级著佐权，允许 EPL 代码与其他许可证（含闭源）组合成"独立模块"。Eclipse IDE、JetBrains 部分组件采用。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223000" y="20320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Unlicense · 完全放弃版权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223000" y="24384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作者把代码贡献到公域，任何人可以任意使用、修改、分发，无任何义务。适合作者完全不想保留权利的小工具。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223000" y="37592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BSL · 时间换开源（新趋势）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223000" y="41656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先源码可见但限制商用，N 年后自动转为 Apache 2.0。HashiCorp、Elastic 2024 年后转向的"源码可见但非 OSI 开源"路线。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848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1016000" y="55118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趋势：OSI 认证的"真开源"与 BSL/SSPL 这类"源码可见"正在分化，选之前先确认许可证是否被 OSI 认可。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教材第 43–44 页 · 其他常见许可证补充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143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SECTION 2.2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77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开源许可证的兼容性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266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3048000"/>
            <a:ext cx="1016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一个项目里同时用了 MIT、GPL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和闭源代码，合法吗？</a:t>
            </a:r>
            <a:endParaRPr lang="en-US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现实是：现代软件 60%–80% 代码来自开源组件。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拼错一个许可证，可能就是一封律师函。</a:t>
            </a:r>
            <a:endParaRPr lang="en-US" sz="16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2.2.1 法律风险 · 违规的三种姿势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违反开源协议，会惹上哪三种官司？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5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651000" y="2184400"/>
            <a:ext cx="977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版权侵权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651000" y="26670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开源代码版权仍归原作者。未授权用于商业产品、或未按 GPL 要求公开修改后的源码 → 版权所有者可申请禁令、要求赔偿、承担诉讼费。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62000" y="36576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651000" y="3683000"/>
            <a:ext cx="977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违反合同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651000" y="41656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开源许可证本身就是一份合同。不公开源码、不留版权声明 = 违约。可能被判赔偿、被法院叫停分发、还会搞坏和开源社区的关系。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51562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651000" y="5181600"/>
            <a:ext cx="977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专利侵权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651000" y="56642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GPL v3 / Apache 2.0 含专利授权条款。未遵守 = 专利侵权，可能被起诉、禁售，诉讼耗时耗钱。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2.2.1 · 四个真实案例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这些公司都因为开源许可证上过法庭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057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案例一 · 思科 vs FSF（2008）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4384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Linksys 路由器用了 GPL 的 Linux 和 BusyBox 却不公开修改源码。FSF 起诉，思科和解：公开源码、设合规官、赔偿。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057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案例二 · Artifex vs Hancom（2017）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4384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韩国 Hancom 办公软件用了 AGPL 的 Ghostscript 却不公开修改版。美国法院判侵权、赔偿、停止使用。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" y="3683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案例三 · Welte vs Sitecom（德国）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62000" y="4064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Sitecom 路由器用了 GPL 的 netfilter/iptables 不公开源码。开发者 Welte 通过 gpl-violations.org 在德国胜诉。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350000" y="3683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案例四 · Google vs Oracle（2021）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350000" y="4064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 使用 Java API 部分代码。美最高法院最终裁定 Google 属于"合理使用"，但 GPL 传染性问题在庭上被反复讨论。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086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1016000" y="5435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共同教训：即使是大公司，忽视开源许可证也会被追责；许可证条款在法庭上真的有强制力。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来源：教材第 47–48 页 · 四个经典违规案例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2.2.1 · 违规的代价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一次许可证违规，企业要付多少钱？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60%–80%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921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现代软件产品中开源代码占比，Black Duck 等行业调研数据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445000" y="21082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70%+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445000" y="2921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企业代码库中存在许可证冲突或未声明组件的比例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128000" y="21082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百万级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28000" y="2921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 GPL 违规和解金可达数十至数百万美元，另加律师费与人力成本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092">
            <a:off x="762004" y="393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违规带来的三类隐性成本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62000" y="46736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声誉成本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：被 FSF、gpl-violations.org 公开点名，影响招聘与客户信任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经济成本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：和解金、禁售导致的收入损失、紧急替换组件的工程开销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合规成本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：被迫引入 SCA 工具、设专职开源合规岗、定期审计——越早做越便宜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数据来源：Black Duck / Synopsys 行业报告，教材第 48–50 页综合整理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2.2.3 兼容性判定 · 五步法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拿到一个新项目，怎么判断许可证兼不兼容？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460500" y="2133600"/>
            <a:ext cx="996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识别每个组件的许可证类型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：宽松型还是著佐权？谁强谁弱？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2794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460500" y="2819400"/>
            <a:ext cx="996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明确使用场景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：仅内部使用？分发二进制？分发源码？—— 越往外分发，义务越多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" y="34798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460500" y="3505200"/>
            <a:ext cx="996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分析代码结合方式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：静态链接 → 整个作品受 GPL 传染；动态链接 → LGPL/MPL 可能不传染；独立模块 → 风险最小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4165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60500" y="4191000"/>
            <a:ext cx="996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逐条核对关键条款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：版权声明、源码公开、衍生作品定义、专利授权、免责声明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62000" y="4851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460500" y="4876800"/>
            <a:ext cx="996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用工具自动验证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：SPDX License List、FOSSology、FSF/OSI 兼容性指南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5372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1016000" y="56388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常见结论：MIT + Apache 2.0 兼容；GPL + 闭源 = 不兼容；AGPL + 任何闭源服务 = 不兼容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08000"/>
            <a:ext cx="1066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 2-3 · 常用开源许可证兼容性矩阵（节选）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889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哪些许可证能拼在一起？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625600"/>
          <a:ext cx="10668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752600"/>
                <a:gridCol w="1752600"/>
                <a:gridCol w="1752600"/>
                <a:gridCol w="1752600"/>
                <a:gridCol w="1752600"/>
              </a:tblGrid>
              <a:tr h="495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组合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+ MIT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+ Apache 2.0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+ GPL v2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+ GPL v3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+ 闭源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Apache 2.0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GPL v2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GPL v3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F2A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MPL 2.0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770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596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 文件级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762000" y="53848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√ 兼容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✕ 不兼容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关键规律：GPL 会"吃掉"宽松型；GPL v2 和 v3 互相不兼容；MPL 只在文件级别允许闭源。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2.2.4 · 给新项目选许可证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从零开始写项目，该选哪个许可证？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先回答三个问题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540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想让多少人用？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想被广泛集成 → 选宽松型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在乎别人闭源自用吗？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在乎 → 选 GPL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需要专利保护吗？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 → Apache 2.0 或木兰 PSL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6465">
            <a:off x="4610100" y="3714762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6604000" y="2108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教材示例 · SecureDB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25400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一个开源数据库项目，希望社区贡献，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但担心大厂直接拿过去做成云服务收费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而不回馈。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 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AGPL v3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：即使只是通过网络提供服务，也要公开修改后的源码。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461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1016000" y="558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一句话：做库被人调用 → MIT/Apache；做产品保护自由 → GPL；做SaaS防白嫖 → AGPL。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62000" y="61468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教材第 52 页 · 许可证选择策略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2.3 软件成分分析 · SCA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怎么知道自己产品里到底用了哪些开源代码？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1082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 四步流程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540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识别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：扫描代码，识别所有开源组件和许可证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评估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：判断许可证兼容性、漏洞、合规风险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监控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：持续跟踪组件的新漏洞和许可证变更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修复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：升级组件、替换许可证不合规的代码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6465">
            <a:off x="4610100" y="3714762"/>
            <a:ext cx="322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6604000" y="21082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关键理念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2540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左移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：把 SCA 嵌入开发流程（CI/CD），在写代码阶段就发现问题，而不是产品上线后。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604000" y="41148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典型案例与注意点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604000" y="4521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Tesla 被指使用 GPL 代码却未公开源码；开源组件还可能涉及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进出口管制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（加密、受控技术）。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典型工具：FOSSA、Snyk、黑幻、WhiteSource · 教材第 54–56 页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2.3 · SCA 落地细节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 用什么工具？为什么还要管进出口？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032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 SCA 工具对比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489200"/>
          <a:ext cx="508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1714500"/>
                <a:gridCol w="17145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5C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FOSSA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开源/自托管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中小团队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Snyk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云原生/漏洞优先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DevOps 团队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Black Duck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企业级/合规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大型企业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OWT/白盒子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国产/合规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政企项目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" name="Connector 7"/>
          <p:cNvCxnSpPr/>
          <p:nvPr/>
        </p:nvCxnSpPr>
        <p:spPr>
          <a:xfrm rot="5386249">
            <a:off x="4635500" y="3613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6604000" y="2032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特殊风险 · 进出口管制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24892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开源软件不只是版权问题，还可能触发出口管制：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加密算法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：美国 EAR 把高强度加密软件列为受控物项，对外出口需申报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受控技术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：某些开源项目涉及高性能计算、航空航天技术，跨国分发受限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实体清单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：向清单上的境外主体提供开源代码也可能违规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做国际化产品时，SCA 扫描还要加一层"出口管制标签"。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工具选型结合团队规模与合规要求 · 教材第 55–56 页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58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2.4 实践作业 · 延伸到非软件领域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965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代码之外：知识共享 CC 许可证与课后任务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057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2A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知识共享 CC 许可证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489200"/>
            <a:ext cx="508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专为文章、图片、视频等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非软件作品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设计，4 个条件可自由组合：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BY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署名（必选）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相同方式共享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NC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非商业用途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ND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禁止演绎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维基百科使用 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CC BY-SA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；课程课件默认建议 CC BY-NC-SA。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6675">
            <a:off x="4584700" y="3689362"/>
            <a:ext cx="327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6604000" y="2057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课后作业（教材第 56–58 页）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24892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选一个你常用的开源项目，查明它用的许可证类型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判断：如果把它集成进闭源商业产品，是否合规？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用 SCA 工具（推荐 FOSSA / ScanCode）扫一遍你自己的一个课程项目，出一份组件清单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62000" y="60706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下节课我们讲开源社区与协作开发 · 作业下周交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本章小结 · CHAPTER RECAP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397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开源协议千千万，宽松著佐两大派；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兼容选择看场景，SCA 护驾保平安。</a:t>
            </a:r>
            <a:endParaRPr 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405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4318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选许可证前，先想清楚产品策略：要自由还是要商业闭环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兼容性是工程问题，靠静态/动态链接粒度判断</a:t>
            </a:r>
            <a:endParaRPr lang="en-US" sz="15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大项目不要靠人脑，用 SCA 工具自动化扫描和监控</a:t>
            </a:r>
            <a:endParaRPr lang="en-US" sz="15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60706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章 · 开源许可证 · 下课作业：教材第 56–58 页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7867</Words>
  <Application>WPS 演示</Application>
  <PresentationFormat/>
  <Paragraphs>787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依帆临水</cp:lastModifiedBy>
  <cp:revision>1</cp:revision>
  <dcterms:created xsi:type="dcterms:W3CDTF">2026-10-08T11:25:43Z</dcterms:created>
  <dcterms:modified xsi:type="dcterms:W3CDTF">2026-10-08T11:25:43Z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359EEC0FC9CD4585920EAFC1C8777B75_12</vt:lpwstr>
  </property>
  <property fmtid="{D5CDD505-2E9C-101B-9397-08002B2CF9AE}" pid="3" name="KSOProductBuildVer">
    <vt:lpwstr>2052-12.1.0.28505</vt:lpwstr>
  </property>
</Properties>
</file>